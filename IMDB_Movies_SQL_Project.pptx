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9206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669280" y="54864"/>
            <a:ext cx="3474720" cy="5033772"/>
          </a:xfrm>
          <a:prstGeom prst="rect">
            <a:avLst/>
          </a:prstGeom>
          <a:solidFill>
            <a:srgbClr val="243358"/>
          </a:solidFill>
          <a:ln w="12700">
            <a:solidFill>
              <a:srgbClr val="243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005840"/>
            <a:ext cx="1828800" cy="18288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3108960"/>
            <a:ext cx="640080" cy="6400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7315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PRSQL-01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57200" y="1115568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Movies</a:t>
            </a:r>
            <a:endParaRPr lang="en-US" sz="4400" dirty="0"/>
          </a:p>
        </p:txBody>
      </p:sp>
      <p:sp>
        <p:nvSpPr>
          <p:cNvPr id="8" name="Text 4"/>
          <p:cNvSpPr/>
          <p:nvPr/>
        </p:nvSpPr>
        <p:spPr>
          <a:xfrm>
            <a:off x="457200" y="199339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 Project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457200" y="2697480"/>
            <a:ext cx="109728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457200" y="28346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 directors &amp; movies using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on project_movie_database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aims to achieve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114800" cy="1481328"/>
          </a:xfrm>
          <a:prstGeom prst="rect">
            <a:avLst/>
          </a:prstGeom>
          <a:solidFill>
            <a:srgbClr val="EEF2F9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73152" cy="14813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0992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14356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70432" y="1801368"/>
            <a:ext cx="32186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and retrieve complete movie and director records from a live MySQL database hosted on AWS.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800600" y="1325880"/>
            <a:ext cx="4114800" cy="1481328"/>
          </a:xfrm>
          <a:prstGeom prst="rect">
            <a:avLst/>
          </a:prstGeom>
          <a:solidFill>
            <a:srgbClr val="EEF2F9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800600" y="1325880"/>
            <a:ext cx="73152" cy="14813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70992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05272" y="14356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Queries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605272" y="1801368"/>
            <a:ext cx="32186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business questions on popularity, revenue, gender distribution, and IMDB vote rankings.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65760" y="3044952"/>
            <a:ext cx="4114800" cy="1481328"/>
          </a:xfrm>
          <a:prstGeom prst="rect">
            <a:avLst/>
          </a:prstGeom>
          <a:solidFill>
            <a:srgbClr val="EEF2F9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365760" y="3044952"/>
            <a:ext cx="73152" cy="14813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42900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70432" y="3154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Joining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170432" y="3520440"/>
            <a:ext cx="32186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the Directors and Movies tables using primary and foreign key (director_id) relationships.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800600" y="3044952"/>
            <a:ext cx="4114800" cy="1481328"/>
          </a:xfrm>
          <a:prstGeom prst="rect">
            <a:avLst/>
          </a:prstGeom>
          <a:solidFill>
            <a:srgbClr val="EEF2F9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4800600" y="3044952"/>
            <a:ext cx="73152" cy="14813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42900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605272" y="3154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Generation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605272" y="3520440"/>
            <a:ext cx="32186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most prolific and most bankable directors using COUNT and SUM aggregations.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matters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777240"/>
          </a:xfrm>
          <a:prstGeom prst="rect">
            <a:avLst/>
          </a:prstGeom>
          <a:solidFill>
            <a:srgbClr val="243358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472184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Dataset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07008" y="16824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is one of the world's largest entertainment databases, making it ideal for practising SQL on authentic, industry-grade data.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2212848"/>
            <a:ext cx="8229600" cy="777240"/>
          </a:xfrm>
          <a:prstGeom prst="rect">
            <a:avLst/>
          </a:prstGeom>
          <a:solidFill>
            <a:srgbClr val="243358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386584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07008" y="2286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Relevance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207008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analysts in media, streaming, and marketing routinely query similar databases to drive content investment and talent decisions.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57200" y="3127248"/>
            <a:ext cx="8229600" cy="777240"/>
          </a:xfrm>
          <a:prstGeom prst="rect">
            <a:avLst/>
          </a:prstGeom>
          <a:solidFill>
            <a:srgbClr val="243358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300984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07008" y="3200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SQL Skill Development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207008" y="35112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covers SELECT, JOIN, GROUP BY, aggregate functions, LIKE filters, and LIMIT/OFFSET — essential for any data role.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57200" y="4041648"/>
            <a:ext cx="8229600" cy="777240"/>
          </a:xfrm>
          <a:prstGeom prst="rect">
            <a:avLst/>
          </a:prstGeom>
          <a:solidFill>
            <a:srgbClr val="243358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4215384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07008" y="4114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Business-Driven Questions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207008" y="44256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maps to a real business need — bankability, popularity, and gender diversity — not just academic exercises.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project components connect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2103120" cy="15544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4630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0352" y="2075688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Server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30352" y="2395728"/>
            <a:ext cx="19568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18.136.157.135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projects.datamites.com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88920" y="1298448"/>
            <a:ext cx="2103120" cy="1554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46304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62072" y="2075688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Directors Table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862072" y="2395728"/>
            <a:ext cx="19568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gender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120640" y="1298448"/>
            <a:ext cx="2103120" cy="1554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146304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93792" y="2075688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Table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193792" y="2395728"/>
            <a:ext cx="19568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title, budget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vote_avg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7452360" y="1298448"/>
            <a:ext cx="2103120" cy="1554480"/>
          </a:xfrm>
          <a:prstGeom prst="rect">
            <a:avLst/>
          </a:prstGeom>
          <a:solidFill>
            <a:srgbClr val="2C7A3A"/>
          </a:solidFill>
          <a:ln w="12700">
            <a:solidFill>
              <a:srgbClr val="2C7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1463040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525512" y="2075688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7525512" y="2395728"/>
            <a:ext cx="19568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JOIN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BY, ORDER BY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2560320" y="2075688"/>
            <a:ext cx="22860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7"/>
          <p:cNvSpPr/>
          <p:nvPr/>
        </p:nvSpPr>
        <p:spPr>
          <a:xfrm>
            <a:off x="4892040" y="2075688"/>
            <a:ext cx="22860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7223760" y="2075688"/>
            <a:ext cx="22860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2560320" y="3108960"/>
            <a:ext cx="4114800" cy="1508760"/>
          </a:xfrm>
          <a:prstGeom prst="rect">
            <a:avLst/>
          </a:prstGeom>
          <a:solidFill>
            <a:srgbClr val="EEF2F9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2560320" y="3108960"/>
            <a:ext cx="73152" cy="1508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1"/>
          <p:cNvSpPr/>
          <p:nvPr/>
        </p:nvSpPr>
        <p:spPr>
          <a:xfrm>
            <a:off x="2743200" y="31821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Relationship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2743200" y="352044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directors.id  ⟷  movies.director_id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(Primary Key → Foreign Key JOIN)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encoding: 0/2 = Male  |  1 = Female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execution pipeline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" y="1298448"/>
            <a:ext cx="1572768" cy="960120"/>
          </a:xfrm>
          <a:prstGeom prst="rect">
            <a:avLst/>
          </a:prstGeom>
          <a:solidFill>
            <a:srgbClr val="243358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97280" y="1060704"/>
            <a:ext cx="402336" cy="40233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97280" y="1042416"/>
            <a:ext cx="402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389888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18288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DB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084832" y="1778508"/>
            <a:ext cx="64008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2148840" y="1298448"/>
            <a:ext cx="1572768" cy="960120"/>
          </a:xfrm>
          <a:prstGeom prst="rect">
            <a:avLst/>
          </a:prstGeom>
          <a:solidFill>
            <a:srgbClr val="243358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2734056" y="1060704"/>
            <a:ext cx="402336" cy="40233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734056" y="1042416"/>
            <a:ext cx="402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4056" y="1389888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203704" y="18288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Tables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721608" y="1778508"/>
            <a:ext cx="64008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3785616" y="1298448"/>
            <a:ext cx="1572768" cy="960120"/>
          </a:xfrm>
          <a:prstGeom prst="rect">
            <a:avLst/>
          </a:prstGeom>
          <a:solidFill>
            <a:srgbClr val="243358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4370832" y="1060704"/>
            <a:ext cx="402336" cy="40233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4370832" y="1042416"/>
            <a:ext cx="402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832" y="1389888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840480" y="18288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Tables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358384" y="1778508"/>
            <a:ext cx="64008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5422392" y="1298448"/>
            <a:ext cx="1572768" cy="960120"/>
          </a:xfrm>
          <a:prstGeom prst="rect">
            <a:avLst/>
          </a:prstGeom>
          <a:solidFill>
            <a:srgbClr val="243358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6007608" y="1060704"/>
            <a:ext cx="402336" cy="40233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0"/>
          <p:cNvSpPr/>
          <p:nvPr/>
        </p:nvSpPr>
        <p:spPr>
          <a:xfrm>
            <a:off x="6007608" y="1042416"/>
            <a:ext cx="402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7608" y="1389888"/>
            <a:ext cx="402336" cy="40233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77256" y="18288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Queries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995160" y="1778508"/>
            <a:ext cx="64008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3"/>
          <p:cNvSpPr/>
          <p:nvPr/>
        </p:nvSpPr>
        <p:spPr>
          <a:xfrm>
            <a:off x="7059168" y="1298448"/>
            <a:ext cx="1572768" cy="960120"/>
          </a:xfrm>
          <a:prstGeom prst="rect">
            <a:avLst/>
          </a:prstGeom>
          <a:solidFill>
            <a:srgbClr val="243358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4"/>
          <p:cNvSpPr/>
          <p:nvPr/>
        </p:nvSpPr>
        <p:spPr>
          <a:xfrm>
            <a:off x="7644384" y="1060704"/>
            <a:ext cx="402336" cy="40233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5"/>
          <p:cNvSpPr/>
          <p:nvPr/>
        </p:nvSpPr>
        <p:spPr>
          <a:xfrm>
            <a:off x="7644384" y="1042416"/>
            <a:ext cx="402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4384" y="1389888"/>
            <a:ext cx="402336" cy="40233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114032" y="18288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512064" y="2459736"/>
            <a:ext cx="1572768" cy="2423160"/>
          </a:xfrm>
          <a:prstGeom prst="rect">
            <a:avLst/>
          </a:prstGeom>
          <a:solidFill>
            <a:srgbClr val="1E3060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28"/>
          <p:cNvSpPr/>
          <p:nvPr/>
        </p:nvSpPr>
        <p:spPr>
          <a:xfrm>
            <a:off x="603504" y="2551176"/>
            <a:ext cx="138988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MySQL Workbench to projects.datamites.com using dm_team10 credentials.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2148840" y="2459736"/>
            <a:ext cx="1572768" cy="2423160"/>
          </a:xfrm>
          <a:prstGeom prst="rect">
            <a:avLst/>
          </a:prstGeom>
          <a:solidFill>
            <a:srgbClr val="1E3060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0"/>
          <p:cNvSpPr/>
          <p:nvPr/>
        </p:nvSpPr>
        <p:spPr>
          <a:xfrm>
            <a:off x="2240280" y="2551176"/>
            <a:ext cx="138988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SELECT * on Directors and Movies to understand columns and data types.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3785616" y="2459736"/>
            <a:ext cx="1572768" cy="2423160"/>
          </a:xfrm>
          <a:prstGeom prst="rect">
            <a:avLst/>
          </a:prstGeom>
          <a:solidFill>
            <a:srgbClr val="1E3060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2"/>
          <p:cNvSpPr/>
          <p:nvPr/>
        </p:nvSpPr>
        <p:spPr>
          <a:xfrm>
            <a:off x="3877056" y="2551176"/>
            <a:ext cx="138988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on directors.id = movies.director_id to build a unified dataset.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5422392" y="2459736"/>
            <a:ext cx="1572768" cy="2423160"/>
          </a:xfrm>
          <a:prstGeom prst="rect">
            <a:avLst/>
          </a:prstGeom>
          <a:solidFill>
            <a:srgbClr val="1E3060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4"/>
          <p:cNvSpPr/>
          <p:nvPr/>
        </p:nvSpPr>
        <p:spPr>
          <a:xfrm>
            <a:off x="5513832" y="2551176"/>
            <a:ext cx="138988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all 13 analytical queries: counts, filters, ranks, and aggregations.</a:t>
            </a:r>
            <a:endParaRPr lang="en-US" sz="1050" dirty="0"/>
          </a:p>
        </p:txBody>
      </p:sp>
      <p:sp>
        <p:nvSpPr>
          <p:cNvPr id="42" name="Shape 35"/>
          <p:cNvSpPr/>
          <p:nvPr/>
        </p:nvSpPr>
        <p:spPr>
          <a:xfrm>
            <a:off x="7059168" y="2459736"/>
            <a:ext cx="1572768" cy="2423160"/>
          </a:xfrm>
          <a:prstGeom prst="rect">
            <a:avLst/>
          </a:prstGeom>
          <a:solidFill>
            <a:srgbClr val="1E3060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36"/>
          <p:cNvSpPr/>
          <p:nvPr/>
        </p:nvSpPr>
        <p:spPr>
          <a:xfrm>
            <a:off x="7150608" y="2551176"/>
            <a:ext cx="138988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results — totals, known directors, and top movies — for correctness.</a:t>
            </a:r>
            <a:endParaRPr lang="en-US" sz="1050" dirty="0"/>
          </a:p>
        </p:txBody>
      </p:sp>
      <p:sp>
        <p:nvSpPr>
          <p:cNvPr id="44" name="Shape 3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486400" y="54864"/>
            <a:ext cx="3657600" cy="5033772"/>
          </a:xfrm>
          <a:prstGeom prst="rect">
            <a:avLst/>
          </a:prstGeom>
          <a:solidFill>
            <a:srgbClr val="243358"/>
          </a:solidFill>
          <a:ln w="12700">
            <a:solidFill>
              <a:srgbClr val="243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from the project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6245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298448"/>
            <a:ext cx="4370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Queried a live MySQL database using SELECT, JOIN, GROUP BY, ORDER BY, and aggregate functions.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66544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2688" y="2002536"/>
            <a:ext cx="4370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two tables via primary–foreign key relationship to answer cross-table business questions.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70632"/>
            <a:ext cx="329184" cy="3291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2688" y="2706624"/>
            <a:ext cx="4370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the most popular and bankable movies and the most prolific/bankable directors.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74720"/>
            <a:ext cx="329184" cy="3291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32688" y="3410712"/>
            <a:ext cx="4370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gender filtering (gender = 1) and date-range filters to narrow analytical results.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78808"/>
            <a:ext cx="329184" cy="32918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32688" y="4114800"/>
            <a:ext cx="4370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reusable SQL analytical workflow applicable to any relational database project.</a:t>
            </a:r>
            <a:endParaRPr lang="en-US" sz="12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685800"/>
            <a:ext cx="1097280" cy="1097280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5623560" y="1993392"/>
            <a:ext cx="1572768" cy="1143000"/>
          </a:xfrm>
          <a:prstGeom prst="rect">
            <a:avLst/>
          </a:prstGeom>
          <a:solidFill>
            <a:srgbClr val="1E3060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0"/>
          <p:cNvSpPr/>
          <p:nvPr/>
        </p:nvSpPr>
        <p:spPr>
          <a:xfrm>
            <a:off x="5623560" y="2130552"/>
            <a:ext cx="1572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600" dirty="0"/>
          </a:p>
        </p:txBody>
      </p:sp>
      <p:sp>
        <p:nvSpPr>
          <p:cNvPr id="19" name="Text 11"/>
          <p:cNvSpPr/>
          <p:nvPr/>
        </p:nvSpPr>
        <p:spPr>
          <a:xfrm>
            <a:off x="5623560" y="265176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1100" dirty="0"/>
          </a:p>
        </p:txBody>
      </p:sp>
      <p:sp>
        <p:nvSpPr>
          <p:cNvPr id="20" name="Shape 12"/>
          <p:cNvSpPr/>
          <p:nvPr/>
        </p:nvSpPr>
        <p:spPr>
          <a:xfrm>
            <a:off x="7342632" y="1993392"/>
            <a:ext cx="1572768" cy="1143000"/>
          </a:xfrm>
          <a:prstGeom prst="rect">
            <a:avLst/>
          </a:prstGeom>
          <a:solidFill>
            <a:srgbClr val="1E3060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3"/>
          <p:cNvSpPr/>
          <p:nvPr/>
        </p:nvSpPr>
        <p:spPr>
          <a:xfrm>
            <a:off x="7342632" y="2130552"/>
            <a:ext cx="1572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22" name="Text 14"/>
          <p:cNvSpPr/>
          <p:nvPr/>
        </p:nvSpPr>
        <p:spPr>
          <a:xfrm>
            <a:off x="7342632" y="265176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Joined</a:t>
            </a:r>
            <a:endParaRPr lang="en-US" sz="1100" dirty="0"/>
          </a:p>
        </p:txBody>
      </p:sp>
      <p:sp>
        <p:nvSpPr>
          <p:cNvPr id="23" name="Shape 15"/>
          <p:cNvSpPr/>
          <p:nvPr/>
        </p:nvSpPr>
        <p:spPr>
          <a:xfrm>
            <a:off x="5623560" y="3383280"/>
            <a:ext cx="1572768" cy="1143000"/>
          </a:xfrm>
          <a:prstGeom prst="rect">
            <a:avLst/>
          </a:prstGeom>
          <a:solidFill>
            <a:srgbClr val="1E3060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6"/>
          <p:cNvSpPr/>
          <p:nvPr/>
        </p:nvSpPr>
        <p:spPr>
          <a:xfrm>
            <a:off x="5623560" y="3520440"/>
            <a:ext cx="1572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</a:t>
            </a:r>
            <a:endParaRPr lang="en-US" sz="2600" dirty="0"/>
          </a:p>
        </p:txBody>
      </p:sp>
      <p:sp>
        <p:nvSpPr>
          <p:cNvPr id="25" name="Text 17"/>
          <p:cNvSpPr/>
          <p:nvPr/>
        </p:nvSpPr>
        <p:spPr>
          <a:xfrm>
            <a:off x="5623560" y="40416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Directors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7342632" y="3383280"/>
            <a:ext cx="1572768" cy="1143000"/>
          </a:xfrm>
          <a:prstGeom prst="rect">
            <a:avLst/>
          </a:prstGeom>
          <a:solidFill>
            <a:srgbClr val="1E3060"/>
          </a:solidFill>
          <a:ln w="12700">
            <a:solidFill>
              <a:srgbClr val="2E40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19"/>
          <p:cNvSpPr/>
          <p:nvPr/>
        </p:nvSpPr>
        <p:spPr>
          <a:xfrm>
            <a:off x="7342632" y="3520440"/>
            <a:ext cx="1572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2600" dirty="0"/>
          </a:p>
        </p:txBody>
      </p:sp>
      <p:sp>
        <p:nvSpPr>
          <p:cNvPr id="28" name="Text 20"/>
          <p:cNvSpPr/>
          <p:nvPr/>
        </p:nvSpPr>
        <p:spPr>
          <a:xfrm>
            <a:off x="7342632" y="40416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372511" y="4840521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476</Words>
  <Application>Microsoft Office PowerPoint</Application>
  <PresentationFormat>On-screen Show (16:9)</PresentationFormat>
  <Paragraphs>82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IMDB Movies SQL Project</dc:title>
  <dc:subject>PptxGenJS Presentation</dc:subject>
  <dc:creator>PptxGenJS</dc:creator>
  <cp:lastModifiedBy>madana vinay</cp:lastModifiedBy>
  <cp:revision>2</cp:revision>
  <dcterms:created xsi:type="dcterms:W3CDTF">2026-05-02T11:53:49Z</dcterms:created>
  <dcterms:modified xsi:type="dcterms:W3CDTF">2026-06-25T06:17:12Z</dcterms:modified>
</cp:coreProperties>
</file>